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docProps/core.xml" Id="rId3" /><Relationship Type="http://schemas.openxmlformats.org/package/2006/relationships/metadata/thumbnail" Target="docProps/thumbnail.jpeg" Id="rId2" /><Relationship Type="http://schemas.openxmlformats.org/officeDocument/2006/relationships/officeDocument" Target="ppt/presentation.xml" Id="rId1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39f3194fa62d4611" 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742C68-B5BC-6538-F995-2A252C952BE2}" v="51" dt="2026-03-18T05:59:33.5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AB0EC-F8DF-4DF2-BD6F-DE3FE21FBDA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427AC-17CC-436C-A48A-E483F614D61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3602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2390BD-0B4A-7062-EA57-D258F0F27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26A5FCC-F72E-FAFC-08BD-764F07ED5E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0DB879-AF10-2733-8045-A8173667E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AE20D41-5DD1-4212-4BED-9FDB01155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9B206B-039A-1F37-657A-CEDC46C0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4451077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AF5C44-DDFA-F4A1-4879-5735A74F3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A22BCC-EA43-FE41-9DAE-27FA4486D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C8AD49-AEAB-6853-D2B0-338A195B4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FDCB29-2EA3-6E92-283B-45CF628FF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D4F7984-7AD0-B63D-4D6A-C5BCE3787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7097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D18D8D-0ADE-788B-D132-4DF4115F9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FF2F03-EF1E-D752-339A-BD14DFF8F3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556A24-6B56-EF83-9E47-6DE9664BD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42DCA9A-4148-67C6-D91E-0C8743E84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E27DD5C-0705-1E15-B8DE-50106655B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8241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28484-7712-CF48-F9F5-12378BEF6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AC9B30-D2B1-EB02-257B-7AADA021BB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F40BBD7-0FE9-F850-B9AA-2FF801324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79DB31B-10B3-99E7-3388-5FAA97E3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A824491-129C-A3BF-6A26-7BAFF1725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A1C6C3-627E-29D2-EF98-5A31F7B6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674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6E6008-4C4E-5BA9-E883-A70A2F29D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C8F903-640E-1EBD-5265-F979981A57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6813F2-E8DA-8A70-6F43-D69DA0A2DB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00C328A-2A6E-F28C-29A5-4005DF3380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C355F2C-6FF2-A55F-C4E3-B48C4630B1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4CC15A0-7FAE-E4DB-12AB-3CE65B23D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4FDB15E-A65A-C86C-850E-3A6FEA63F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82DAE1D-9431-B75B-C4A8-84B95F3C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662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9947CD-78F9-0DE1-AB88-D394AD0A1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F44AC4A-C457-D677-3853-8AD1D4C0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57B99B3-707F-CB65-F394-8152E5634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5F79312-68A2-BA63-4FAF-5857CE4B0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71620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B466169-F657-5201-2E20-A573667D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9A64124-D408-6521-4FBC-3999F0F5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ACDD95-4103-955A-2E28-53DB111A4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8115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F7CACB-1710-EE63-B9E8-9380CFA64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DAD0A-01D0-1FF4-7D25-61960024C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2AB0D12-029E-B410-B27C-232F4A14A8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1839203-BE0A-28DB-E65D-62B45879E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73CA5FC-B88C-B4DD-2787-2E4D367E0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238A050-997A-706F-0D97-516AA9A56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13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A5CC5D-2BF9-940D-F812-38812F3A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B68413F-E08A-0A0A-2AB3-36313AE64E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221B703-397A-8689-BC9F-B90ADBEBD6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8719F59-FEF0-99F0-0687-73A5C9190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92C8DFB-F24C-5050-D2E0-F3D8216B0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32AB7C7-C225-0D76-368D-F35DAE91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04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863E1D-8C0F-107D-CD38-FB7FD5329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3715A29-82C6-5B44-6F2B-6692575EE1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29B3F8-F73D-AB60-0CC2-383CE89C8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51D9E6E-3BC6-F36E-BE63-1AD765931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785530D-4A5D-F7F7-680F-52D9D41B0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72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8E9C731-ACF9-E0A7-8D65-C698506B54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F9068DE-D308-D6EA-548A-4789020D83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DC1B9A8-DF33-00AE-E8F3-CE6F48F30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EBF290-21A8-B54E-0C31-FD82DB8DF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89EC80-EBA5-7F35-0323-6D73FA36A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8043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8755D88-7708-6D1B-0393-5433E90DE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D73E0C-3AB3-6668-7113-6B7C36414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53B076-F120-9BC9-3FD5-861291FA13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591DE-712C-4055-9FEC-F4DFF1AF22D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C07193-3905-6E8A-4BC7-1F13AE232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FE10C61-BD51-C162-BA7F-8C54CA05B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A7900F-3E39-49F2-9513-D0150912C5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5910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方塊 9">
            <a:extLst>
              <a:ext uri="{FF2B5EF4-FFF2-40B4-BE49-F238E27FC236}">
                <a16:creationId xmlns:a16="http://schemas.microsoft.com/office/drawing/2014/main" id="{89397D3D-12DD-4915-EC1D-668E426BC42A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6000" dirty="0"/>
              <a:t>MR60-FLIR-FHIR </a:t>
            </a:r>
            <a:r>
              <a:rPr lang="zh-TW" altLang="en-US" sz="6000" dirty="0"/>
              <a:t>毫米波及熱成像與 </a:t>
            </a:r>
            <a:r>
              <a:rPr lang="en-US" altLang="zh-TW" sz="6000" dirty="0"/>
              <a:t>FHIR </a:t>
            </a:r>
            <a:r>
              <a:rPr lang="zh-TW" altLang="en-US" sz="6000" dirty="0"/>
              <a:t>標準整合系統</a:t>
            </a:r>
            <a:endParaRPr lang="en-US" altLang="zh-TW" sz="6000" dirty="0"/>
          </a:p>
          <a:p>
            <a:pPr algn="ctr"/>
            <a:endParaRPr lang="en-US" altLang="zh-TW" sz="60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F020398-BBD0-1336-8908-3EC209DC316C}"/>
              </a:ext>
            </a:extLst>
          </p:cNvPr>
          <p:cNvSpPr txBox="1"/>
          <p:nvPr/>
        </p:nvSpPr>
        <p:spPr>
          <a:xfrm>
            <a:off x="2014442" y="3331366"/>
            <a:ext cx="81631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/>
              <a:t>當前網路前端後端架構基礎框架搭建、及數據庫實現，</a:t>
            </a:r>
            <a:r>
              <a:rPr lang="en-US" altLang="zh-TW" sz="3600" dirty="0"/>
              <a:t>FHIR</a:t>
            </a:r>
            <a:r>
              <a:rPr lang="zh-TW" altLang="en-US" sz="3600" dirty="0"/>
              <a:t>格式整合簡要說明。</a:t>
            </a:r>
            <a:endParaRPr lang="en-US" altLang="zh-TW" sz="3600" dirty="0"/>
          </a:p>
        </p:txBody>
      </p:sp>
    </p:spTree>
    <p:extLst>
      <p:ext uri="{BB962C8B-B14F-4D97-AF65-F5344CB8AC3E}">
        <p14:creationId xmlns:p14="http://schemas.microsoft.com/office/powerpoint/2010/main" val="314894575"/>
      </p:ext>
    </p:extLst>
  </p:cSld>
  <p:clrMapOvr>
    <a:masterClrMapping/>
  </p:clrMapOvr>
</p:sld>
</file>

<file path=ppt/slides/slide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title Placeholder 100000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系統架構設計 (System Architecture)</a:t>
            </a:r>
          </a:p>
        </p:txBody>
      </p:sp>
      <p:sp>
        <p:nvSpPr>
          <p:cNvPr id="100001" name="body Placeholder 100001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/>
              <a:t>• 前端：EHR 臨床監控面板 (React/HTML5)，支援 1080P/2K/4K 螢幕自適應。</a:t>
            </a:r>
          </a:p>
          <a:p>
            <a:r>
              <a:rPr lang="en-US"/>
              <a:t>• 後端：多執行緒 Python 輕量級 API 伺服器 (server.py)，整合 Cloudflare Tunnel 實現安全穿牆與公網對接。</a:t>
            </a:r>
          </a:p>
          <a:p>
            <a:r>
              <a:rPr lang="en-US"/>
              <a:t>• 資料庫：PostgreSQL 地端關聯式資料庫，用於儲存病患、設備與生理觀測記錄。</a:t>
            </a:r>
          </a:p>
        </p:txBody>
      </p:sp>
    </p:spTree>
    <p:extLst>
      <p:ext uri="{BB962C8B-B14F-4D97-AF65-F5344CB8AC3E}">
        <p14:creationId xmlns:p14="http://schemas.microsoft.com/office/powerpoint/2010/main" val="824289555"/>
      </p:ext>
    </p:extLst>
  </p:cSld>
  <p:clrMapOvr>
    <a:masterClrMapping/>
  </p:clrMapOvr>
</p:sld>
</file>

<file path=ppt/slides/slide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2" name="title Placeholder 100002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資料庫設計與實體關聯 (PostgreSQL Schema)</a:t>
            </a:r>
          </a:p>
        </p:txBody>
      </p:sp>
      <p:sp>
        <p:nvSpPr>
          <p:cNvPr id="100003" name="body Placeholder 100003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/>
              <a:t>• 病患基本資料表 (patients)：記錄病歷編號 (MRN998877)、姓名 (蘇先生)、性別與出生日期 (1991-12-25)。</a:t>
            </a:r>
          </a:p>
          <a:p>
            <a:r>
              <a:rPr lang="en-US"/>
              <a:t>• 監測設備資料表 (devices)：對應毫米波生理雷達 (device-radar-01) 及熱感相機 (device-camera-01)。</a:t>
            </a:r>
          </a:p>
          <a:p>
            <a:r>
              <a:rPr lang="en-US"/>
              <a:t>• 生理觀測指標表 (observations)：儲存 LOINC 標準生理指標 (體溫、心率、呼吸率) 與 SNOMED CT 狀態碼 (姿勢、離床、跌倒)。</a:t>
            </a:r>
          </a:p>
        </p:txBody>
      </p:sp>
    </p:spTree>
    <p:extLst>
      <p:ext uri="{BB962C8B-B14F-4D97-AF65-F5344CB8AC3E}">
        <p14:creationId xmlns:p14="http://schemas.microsoft.com/office/powerpoint/2010/main" val="1668470962"/>
      </p:ext>
    </p:extLst>
  </p:cSld>
  <p:clrMapOvr>
    <a:masterClrMapping/>
  </p:clrMapOvr>
</p:sld>
</file>

<file path=ppt/slides/slide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4" name="title Placeholder 100004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HL7 FHIR 標準合規與電子病歷整合</a:t>
            </a:r>
          </a:p>
        </p:txBody>
      </p:sp>
      <p:sp>
        <p:nvSpPr>
          <p:cNvPr id="100005" name="body Placeholder 100005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/>
              <a:t>• 官方最新標準相容：完全符合中華民國衛生福利部 (MHW) 最新發布的臺灣核心實作指引 (TW Core IG) 規範，採用新版 twcore.mohw.gov.tw 域名定義。</a:t>
            </a:r>
          </a:p>
          <a:p>
            <a:r>
              <a:rPr lang="en-US"/>
              <a:t>• 多模態數據封裝：整合生理雷達與熱感相機數據，打包為標準 Bundle (searchset) JSON，實現無縫對接電子病歷。</a:t>
            </a:r>
          </a:p>
          <a:p>
            <a:r>
              <a:rPr lang="en-US"/>
              <a:t>• 臨床科研導出功能：支援一鍵導出 Excel-ready CSV 報表與符合 TW Core IG 規範的 FHIR Bundle 檔案。</a:t>
            </a:r>
          </a:p>
        </p:txBody>
      </p:sp>
    </p:spTree>
    <p:extLst>
      <p:ext uri="{BB962C8B-B14F-4D97-AF65-F5344CB8AC3E}">
        <p14:creationId xmlns:p14="http://schemas.microsoft.com/office/powerpoint/2010/main" val="596552232"/>
      </p:ext>
    </p:extLst>
  </p:cSld>
  <p:clrMapOvr>
    <a:masterClrMapping/>
  </p:clrMapOvr>
</p:sld>
</file>

<file path=ppt/slides/slide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6" name="title Placeholder 100006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系統創新點與連線除錯 (Innovations &amp; Debugging)</a:t>
            </a:r>
          </a:p>
        </p:txBody>
      </p:sp>
      <p:sp>
        <p:nvSpPr>
          <p:cNvPr id="100007" name="body Placeholder 100007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/>
              <a:t>• 雙重非接觸式監護：融合雷達與熱感影像實現雙重生理安全防護，全天候進行離床與跌倒預警監測。</a:t>
            </a:r>
          </a:p>
          <a:p>
            <a:r>
              <a:rPr lang="en-US"/>
              <a:t>• 智慧進程守護防禦：Python 伺服器啟動時自動終止背景殘存的 cloudflared.exe 幽靈進程，徹底根治 502 Bad Gateway 異常。</a:t>
            </a:r>
          </a:p>
        </p:txBody>
      </p:sp>
    </p:spTree>
    <p:extLst>
      <p:ext uri="{BB962C8B-B14F-4D97-AF65-F5344CB8AC3E}">
        <p14:creationId xmlns:p14="http://schemas.microsoft.com/office/powerpoint/2010/main" val="20467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1776</TotalTime>
  <Words>33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陳育聖</dc:creator>
  <cp:lastModifiedBy>lin Type</cp:lastModifiedBy>
  <cp:revision>73</cp:revision>
  <dcterms:created xsi:type="dcterms:W3CDTF">2026-03-12T03:05:11Z</dcterms:created>
  <dcterms:modified xsi:type="dcterms:W3CDTF">2026-07-13T08:06:38Z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1.0.135</vt:lpwstr>
  </op:property>
  <op:property fmtid="{D5CDD505-2E9C-101B-9397-08002B2CF9AE}" pid="3" name="OfficeCLI.LastModified">
    <vt:lpwstr xmlns:vt="http://schemas.openxmlformats.org/officeDocument/2006/docPropsVTypes">2026-07-13T08:07:23Z</vt:lpwstr>
  </op:property>
</op:Properties>
</file>