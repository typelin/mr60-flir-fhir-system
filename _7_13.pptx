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docProps/core.xml" Id="rId3" /><Relationship Type="http://schemas.openxmlformats.org/package/2006/relationships/metadata/thumbnail" Target="docProps/thumbnail.jpeg" Id="rId2" /><Relationship Type="http://schemas.openxmlformats.org/officeDocument/2006/relationships/officeDocument" Target="ppt/presentation.xml" Id="rId1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39f3194fa62d4611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742C68-B5BC-6538-F995-2A252C952BE2}" v="51" dt="2026-03-18T05:59:33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AB0EC-F8DF-4DF2-BD6F-DE3FE21FBDA3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427AC-17CC-436C-A48A-E483F614D6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360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2390BD-0B4A-7062-EA57-D258F0F27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26A5FCC-F72E-FAFC-08BD-764F07ED5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0DB879-AF10-2733-8045-A8173667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91DE-712C-4055-9FEC-F4DFF1AF22D3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E20D41-5DD1-4212-4BED-9FDB0115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9B206B-039A-1F37-657A-CEDC46C0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900F-3E39-49F2-9513-D0150912C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4451077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AF5C44-DDFA-F4A1-4879-5735A74F3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A22BCC-EA43-FE41-9DAE-27FA4486D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C8AD49-AEAB-6853-D2B0-338A195B4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91DE-712C-4055-9FEC-F4DFF1AF22D3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FDCB29-2EA3-6E92-283B-45CF628F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4F7984-7AD0-B63D-4D6A-C5BCE378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900F-3E39-49F2-9513-D0150912C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D18D8D-0ADE-788B-D132-4DF4115F9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FF2F03-EF1E-D752-339A-BD14DFF8F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556A24-6B56-EF83-9E47-6DE9664BD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91DE-712C-4055-9FEC-F4DFF1AF22D3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2DCA9A-4148-67C6-D91E-0C8743E84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27DD5C-0705-1E15-B8DE-50106655B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900F-3E39-49F2-9513-D0150912C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8241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228484-7712-CF48-F9F5-12378BEF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AC9B30-D2B1-EB02-257B-7AADA021B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F40BBD7-0FE9-F850-B9AA-2FF801324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9DB31B-10B3-99E7-3388-5FAA97E30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91DE-712C-4055-9FEC-F4DFF1AF22D3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824491-129C-A3BF-6A26-7BAFF1725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A1C6C3-627E-29D2-EF98-5A31F7B6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900F-3E39-49F2-9513-D0150912C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74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6E6008-4C4E-5BA9-E883-A70A2F29D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4C8F903-640E-1EBD-5265-F979981A5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6813F2-E8DA-8A70-6F43-D69DA0A2D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00C328A-2A6E-F28C-29A5-4005DF3380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C355F2C-6FF2-A55F-C4E3-B48C4630B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4CC15A0-7FAE-E4DB-12AB-3CE65B23D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91DE-712C-4055-9FEC-F4DFF1AF22D3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4FDB15E-A65A-C86C-850E-3A6FEA63F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82DAE1D-9431-B75B-C4A8-84B95F3C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900F-3E39-49F2-9513-D0150912C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662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9947CD-78F9-0DE1-AB88-D394AD0A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F44AC4A-C457-D677-3853-8AD1D4C0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91DE-712C-4055-9FEC-F4DFF1AF22D3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57B99B3-707F-CB65-F394-8152E563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5F79312-68A2-BA63-4FAF-5857CE4B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900F-3E39-49F2-9513-D0150912C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162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B466169-F657-5201-2E20-A573667D2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91DE-712C-4055-9FEC-F4DFF1AF22D3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9A64124-D408-6521-4FBC-3999F0F5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ACDD95-4103-955A-2E28-53DB111A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900F-3E39-49F2-9513-D0150912C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8115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F7CACB-1710-EE63-B9E8-9380CFA6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3DAD0A-01D0-1FF4-7D25-61960024C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2AB0D12-029E-B410-B27C-232F4A14A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839203-BE0A-28DB-E65D-62B45879E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91DE-712C-4055-9FEC-F4DFF1AF22D3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73CA5FC-B88C-B4DD-2787-2E4D367E0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38A050-997A-706F-0D97-516AA9A56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900F-3E39-49F2-9513-D0150912C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513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A5CC5D-2BF9-940D-F812-38812F3AD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B68413F-E08A-0A0A-2AB3-36313AE64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221B703-397A-8689-BC9F-B90ADBEBD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719F59-FEF0-99F0-0687-73A5C9190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91DE-712C-4055-9FEC-F4DFF1AF22D3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92C8DFB-F24C-5050-D2E0-F3D8216B0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2AB7C7-C225-0D76-368D-F35DAE91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900F-3E39-49F2-9513-D0150912C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0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863E1D-8C0F-107D-CD38-FB7FD5329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3715A29-82C6-5B44-6F2B-6692575EE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29B3F8-F73D-AB60-0CC2-383CE89C8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91DE-712C-4055-9FEC-F4DFF1AF22D3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1D9E6E-3BC6-F36E-BE63-1AD76593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85530D-4A5D-F7F7-680F-52D9D41B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900F-3E39-49F2-9513-D0150912C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9721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8E9C731-ACF9-E0A7-8D65-C698506B54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F9068DE-D308-D6EA-548A-4789020D8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C1B9A8-DF33-00AE-E8F3-CE6F48F30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91DE-712C-4055-9FEC-F4DFF1AF22D3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EBF290-21A8-B54E-0C31-FD82DB8DF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89EC80-EBA5-7F35-0323-6D73FA36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7900F-3E39-49F2-9513-D0150912C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8043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8755D88-7708-6D1B-0393-5433E90DE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D73E0C-3AB3-6668-7113-6B7C36414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53B076-F120-9BC9-3FD5-861291FA1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591DE-712C-4055-9FEC-F4DFF1AF22D3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C07193-3905-6E8A-4BC7-1F13AE232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E10C61-BD51-C162-BA7F-8C54CA05B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A7900F-3E39-49F2-9513-D0150912C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910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89397D3D-12DD-4915-EC1D-668E426BC42A}"/>
              </a:ext>
            </a:extLst>
          </p:cNvPr>
          <p:cNvSpPr txBox="1"/>
          <p:nvPr/>
        </p:nvSpPr>
        <p:spPr>
          <a:xfrm>
            <a:off x="0" y="0"/>
            <a:ext cx="1219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6000" dirty="0"/>
              <a:t>MR60-FLIR-FHIR </a:t>
            </a:r>
            <a:r>
              <a:rPr lang="zh-TW" altLang="en-US" sz="6000" dirty="0"/>
              <a:t>毫米波及熱成像與 </a:t>
            </a:r>
            <a:r>
              <a:rPr lang="en-US" altLang="zh-TW" sz="6000" dirty="0"/>
              <a:t>FHIR </a:t>
            </a:r>
            <a:r>
              <a:rPr lang="zh-TW" altLang="en-US" sz="6000" dirty="0"/>
              <a:t>標準整合系統</a:t>
            </a:r>
            <a:endParaRPr lang="en-US" altLang="zh-TW" sz="6000" dirty="0"/>
          </a:p>
          <a:p>
            <a:pPr algn="ctr"/>
            <a:endParaRPr lang="en-US" altLang="zh-TW" sz="60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F020398-BBD0-1336-8908-3EC209DC316C}"/>
              </a:ext>
            </a:extLst>
          </p:cNvPr>
          <p:cNvSpPr txBox="1"/>
          <p:nvPr/>
        </p:nvSpPr>
        <p:spPr>
          <a:xfrm>
            <a:off x="2014442" y="3331366"/>
            <a:ext cx="8163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/>
              <a:t>當前網路前端後端架構基礎框架搭建、及數據庫實現，</a:t>
            </a:r>
            <a:r>
              <a:rPr lang="en-US" altLang="zh-TW" sz="3600" dirty="0"/>
              <a:t>FHIR</a:t>
            </a:r>
            <a:r>
              <a:rPr lang="zh-TW" altLang="en-US" sz="3600" dirty="0"/>
              <a:t>格式整合簡要說明。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314894575"/>
      </p:ext>
    </p:extLst>
  </p:cSld>
  <p:clrMapOvr>
    <a:masterClrMapping/>
  </p:clrMapOvr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itle Placeholder 100000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系統前/後端架構與實體網域部署</a:t>
            </a:r>
          </a:p>
        </p:txBody>
      </p:sp>
      <p:sp>
        <p:nvSpPr>
          <p:cNvPr id="100001" name="body Placeholder 100001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實體專題網域已購置對接：已成功購置並部署公網域名 https://60gigahertz.uk/，外部雷達與相機數據可直接上報至該介面。</a:t>
            </a:r>
          </a:p>
          <a:p>
            <a:r>
              <a:rPr lang="en-US"/>
              <a:t>前端自適應監控面板：採 HTML5 + CSS3 + HSL 白銀臨床風格排版，支援 1080P/2K/4K 顯示器與手機端 100% 完整互動。</a:t>
            </a:r>
          </a:p>
          <a:p>
            <a:r>
              <a:rPr lang="en-US"/>
              <a:t>後端多執行緒 API 伺服器 (server.py)：採用 ThreadingHTTPServer，即時解析多模態生理指標，同時安全寫入本地資料庫。</a:t>
            </a:r>
          </a:p>
        </p:txBody>
      </p:sp>
    </p:spTree>
    <p:extLst>
      <p:ext uri="{BB962C8B-B14F-4D97-AF65-F5344CB8AC3E}">
        <p14:creationId xmlns:p14="http://schemas.microsoft.com/office/powerpoint/2010/main" val="824289555"/>
      </p:ext>
    </p:extLst>
  </p:cSld>
  <p:clrMapOvr>
    <a:masterClrMapping/>
  </p:clrMapOvr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2" name="title Placeholder 100002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生理監護資料傳輸流程圖 (Data Pipeline)</a:t>
            </a:r>
          </a:p>
        </p:txBody>
      </p:sp>
      <p:sp>
        <p:nvSpPr>
          <p:cNvPr id="100003" name="body Placeholder 100003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硬體數據採集：FLIR 熱成像採集體溫/姿勢/離床數據 -&gt; 毫米波雷達採集心率/呼吸/跌倒訊號。</a:t>
            </a:r>
          </a:p>
          <a:p>
            <a:r>
              <a:rPr lang="en-US"/>
              <a:t>JSON API 上報：感測設備 POST /api 發送多模態遙測指標 -&gt; 後端接收並自動分流與 LOINC/SNOMED 標準代碼綁定。</a:t>
            </a:r>
          </a:p>
          <a:p>
            <a:r>
              <a:rPr lang="en-US"/>
              <a:t>資料庫儲存與呈現：</a:t>
            </a:r>
          </a:p>
          <a:p>
            <a:r>
              <a:rPr lang="en-US"/>
              <a:t>   - 地端保存：即時寫入本地 PostgreSQL 數據庫。</a:t>
            </a:r>
          </a:p>
          <a:p>
            <a:r>
              <a:rPr lang="en-US"/>
              <a:t>   - FHIR 封裝：動態產生符合衛福部規範的 Bundle (GET /api/fhir)。</a:t>
            </a:r>
          </a:p>
          <a:p>
            <a:r>
              <a:rPr lang="en-US"/>
              <a:t>   - 前端呈現：EHR 監控面板每 10 秒自動輪詢更新。</a:t>
            </a:r>
          </a:p>
        </p:txBody>
      </p:sp>
    </p:spTree>
    <p:extLst>
      <p:ext uri="{BB962C8B-B14F-4D97-AF65-F5344CB8AC3E}">
        <p14:creationId xmlns:p14="http://schemas.microsoft.com/office/powerpoint/2010/main" val="1668470962"/>
      </p:ext>
    </p:extLst>
  </p:cSld>
  <p:clrMapOvr>
    <a:masterClrMapping/>
  </p:clrMapOvr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" name="title Placeholder 100004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當前地端資料庫結構與欄位 (PostgreSQL Schema)</a:t>
            </a:r>
          </a:p>
        </p:txBody>
      </p:sp>
      <p:sp>
        <p:nvSpPr>
          <p:cNvPr id="100005" name="body Placeholder 100005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病患基本資料表 (patients)：記錄病歷編號 (MRN998877)、姓名 (蘇先生)、性別 (male)、出生日期 (1991-12-25)。</a:t>
            </a:r>
          </a:p>
          <a:p>
            <a:r>
              <a:rPr lang="en-US"/>
              <a:t>設備資料表 (devices)：對應毫米波生理雷達 (device-radar-01) 及熱感相機 (device-camera-01)。</a:t>
            </a:r>
          </a:p>
          <a:p>
            <a:r>
              <a:rPr lang="en-US"/>
              <a:t>生理觀測指標表 (observations)：儲存 LOINC 生理指標 (體溫 8310-5、心率 8867-4、呼吸率 9279-1) 與 SNOMED CT 狀態碼 (姿勢、離床、跌倒 242526002)。</a:t>
            </a:r>
          </a:p>
        </p:txBody>
      </p:sp>
    </p:spTree>
    <p:extLst>
      <p:ext uri="{BB962C8B-B14F-4D97-AF65-F5344CB8AC3E}">
        <p14:creationId xmlns:p14="http://schemas.microsoft.com/office/powerpoint/2010/main" val="596552232"/>
      </p:ext>
    </p:extLst>
  </p:cSld>
  <p:clrMapOvr>
    <a:masterClrMapping/>
  </p:clrMapOvr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6" name="title Placeholder 100006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衛福部 TW Core IG 官方規範與本系統實體欄位對應</a:t>
            </a:r>
          </a:p>
        </p:txBody>
      </p:sp>
      <p:sp>
        <p:nvSpPr>
          <p:cNvPr id="100007" name="body Placeholder 100007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病患資料對應 (Patient Profile)：</a:t>
            </a:r>
          </a:p>
          <a:p>
            <a:r>
              <a:rPr lang="en-US"/>
              <a:t>   - 官方規範：https://twcore.mohw.gov.tw/ig/twcore/StructureDefinition-Patient-twcore.html</a:t>
            </a:r>
          </a:p>
          <a:p>
            <a:r>
              <a:rPr lang="en-US"/>
              <a:t>   - 本系統實體對應：Bundle.entry.resource (Patient.name.text="蘇先生", Patient.gender="male", Patient.birthDate="1991-12-25")。</a:t>
            </a:r>
          </a:p>
          <a:p>
            <a:r>
              <a:rPr lang="en-US"/>
              <a:t>生命徵象對應 (Observation Profile)：</a:t>
            </a:r>
          </a:p>
          <a:p>
            <a:r>
              <a:rPr lang="en-US"/>
              <a:t>   - 官方規範：https://twcore.mohw.gov.tw/ig/twcore/StructureDefinition-Observation-vitalSigns-twcore.html</a:t>
            </a:r>
          </a:p>
          <a:p>
            <a:r>
              <a:rPr lang="en-US"/>
              <a:t>   - 本系統實體對應：LOINC 體溫 (8310-5)、心率 (8867-4)、呼吸率 (9279-1)，格式與代碼定義與衛福部最新國家規範完全相符。</a:t>
            </a:r>
          </a:p>
        </p:txBody>
      </p:sp>
    </p:spTree>
    <p:extLst>
      <p:ext uri="{BB962C8B-B14F-4D97-AF65-F5344CB8AC3E}">
        <p14:creationId xmlns:p14="http://schemas.microsoft.com/office/powerpoint/2010/main" val="2046785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1776</TotalTime>
  <Words>33</Words>
  <Application>Microsoft Office PowerPoint</Application>
  <PresentationFormat>寬螢幕</PresentationFormat>
  <Paragraphs>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陳育聖</dc:creator>
  <cp:lastModifiedBy>lin Type</cp:lastModifiedBy>
  <cp:revision>73</cp:revision>
  <dcterms:created xsi:type="dcterms:W3CDTF">2026-03-12T03:05:11Z</dcterms:created>
  <dcterms:modified xsi:type="dcterms:W3CDTF">2026-07-13T08:06:38Z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1.0.135</vt:lpwstr>
  </op:property>
  <op:property fmtid="{D5CDD505-2E9C-101B-9397-08002B2CF9AE}" pid="3" name="OfficeCLI.LastModified">
    <vt:lpwstr xmlns:vt="http://schemas.openxmlformats.org/officeDocument/2006/docPropsVTypes">2026-07-13T08:14:29Z</vt:lpwstr>
  </op:property>
</op:Properties>
</file>